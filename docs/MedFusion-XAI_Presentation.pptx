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91695"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57400"/>
            <a:ext cx="10698480" cy="2377440"/>
          </a:xfrm>
          <a:prstGeom prst="rect">
            <a:avLst/>
          </a:prstGeom>
          <a:noFill/>
        </p:spPr>
        <p:txBody>
          <a:bodyPr wrap="square">
            <a:spAutoFit/>
          </a:bodyPr>
          <a:lstStyle/>
          <a:p>
            <a:r>
              <a:rPr sz="4000" b="1" i="0">
                <a:solidFill>
                  <a:srgbClr val="FFFFFF"/>
                </a:solidFill>
                <a:latin typeface="Calibri"/>
              </a:rPr>
              <a:t>Same Accuracy, Different Evidence</a:t>
            </a:r>
          </a:p>
          <a:p>
            <a:r>
              <a:rPr sz="2000" b="0" i="0">
                <a:solidFill>
                  <a:srgbClr val="C7D7EC"/>
                </a:solidFill>
                <a:latin typeface="Calibri"/>
              </a:rPr>
              <a:t>Does patient information help a skin-cancer model look in the right place, or make it stop looking?</a:t>
            </a:r>
          </a:p>
        </p:txBody>
      </p:sp>
      <p:sp>
        <p:nvSpPr>
          <p:cNvPr id="5" name="TextBox 4"/>
          <p:cNvSpPr txBox="1"/>
          <p:nvPr/>
        </p:nvSpPr>
        <p:spPr>
          <a:xfrm>
            <a:off x="731520" y="4846320"/>
            <a:ext cx="10698480" cy="1645920"/>
          </a:xfrm>
          <a:prstGeom prst="rect">
            <a:avLst/>
          </a:prstGeom>
          <a:noFill/>
        </p:spPr>
        <p:txBody>
          <a:bodyPr wrap="square">
            <a:spAutoFit/>
          </a:bodyPr>
          <a:lstStyle/>
          <a:p>
            <a:r>
              <a:rPr sz="1800" b="1" i="0">
                <a:solidFill>
                  <a:srgbClr val="FFFFFF"/>
                </a:solidFill>
                <a:latin typeface="Calibri"/>
              </a:rPr>
              <a:t>Aniket Meena  ·  Ritu Raj Swami  ·  Nishant Kumar</a:t>
            </a:r>
          </a:p>
          <a:p>
            <a:r>
              <a:rPr sz="1600" b="0" i="0">
                <a:solidFill>
                  <a:srgbClr val="C7D7EC"/>
                </a:solidFill>
                <a:latin typeface="Calibri"/>
              </a:rPr>
              <a:t>Supervisor: Dr. Bharti Nagpal</a:t>
            </a:r>
          </a:p>
          <a:p>
            <a:r>
              <a:rPr sz="1300" b="0" i="0">
                <a:solidFill>
                  <a:srgbClr val="9DB8D8"/>
                </a:solidFill>
                <a:latin typeface="Calibri"/>
              </a:rPr>
              <a:t>Major Project  ·  Target venue: MIDL 2027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THE PROBLEM</a:t>
            </a:r>
          </a:p>
          <a:p>
            <a:r>
              <a:rPr sz="2600" b="1" i="0">
                <a:solidFill>
                  <a:srgbClr val="FFFFFF"/>
                </a:solidFill>
                <a:latin typeface="Calibri"/>
              </a:rPr>
              <a:t>A model can be right for the wrong reason</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5212080"/>
          </a:xfrm>
          <a:prstGeom prst="rect">
            <a:avLst/>
          </a:prstGeom>
          <a:noFill/>
        </p:spPr>
        <p:txBody>
          <a:bodyPr wrap="square">
            <a:spAutoFit/>
          </a:bodyPr>
          <a:lstStyle/>
          <a:p>
            <a:pPr>
              <a:spcAft>
                <a:spcPts val="1400"/>
              </a:spcAft>
            </a:pPr>
            <a:r>
              <a:rPr sz="1800" b="1" i="0">
                <a:solidFill>
                  <a:srgbClr val="2563EB"/>
                </a:solidFill>
                <a:latin typeface="Calibri"/>
              </a:rPr>
              <a:t>•  </a:t>
            </a:r>
            <a:r>
              <a:rPr sz="1800" b="0" i="0">
                <a:solidFill>
                  <a:srgbClr val="1B263B"/>
                </a:solidFill>
                <a:latin typeface="Calibri"/>
              </a:rPr>
              <a:t>A computer can look at a photo of a skin lesion and predict whether it is cancer. It can also be given the patient's details: age, sex, whether the spot itches, bleeds, or recently changed.</a:t>
            </a:r>
          </a:p>
          <a:p>
            <a:pPr>
              <a:spcAft>
                <a:spcPts val="1400"/>
              </a:spcAft>
            </a:pPr>
            <a:r>
              <a:rPr sz="1800" b="1" i="0">
                <a:solidFill>
                  <a:srgbClr val="2563EB"/>
                </a:solidFill>
                <a:latin typeface="Calibri"/>
              </a:rPr>
              <a:t>•  </a:t>
            </a:r>
            <a:r>
              <a:rPr sz="1800" b="0" i="0">
                <a:solidFill>
                  <a:srgbClr val="1B263B"/>
                </a:solidFill>
                <a:latin typeface="Calibri"/>
              </a:rPr>
              <a:t>Adding those details almost always makes the model more accurate. That part is well known and already published.</a:t>
            </a:r>
          </a:p>
          <a:p>
            <a:pPr>
              <a:spcAft>
                <a:spcPts val="1400"/>
              </a:spcAft>
            </a:pPr>
            <a:r>
              <a:rPr sz="1800" b="1" i="0">
                <a:solidFill>
                  <a:srgbClr val="1B263B"/>
                </a:solidFill>
                <a:latin typeface="Calibri"/>
              </a:rPr>
              <a:t>The unanswered question: </a:t>
            </a:r>
            <a:r>
              <a:rPr sz="1800" b="0" i="0">
                <a:solidFill>
                  <a:srgbClr val="1B263B"/>
                </a:solidFill>
                <a:latin typeface="Calibri"/>
              </a:rPr>
              <a:t>does the model then look at the lesion </a:t>
            </a:r>
            <a:r>
              <a:rPr sz="1800" b="1" i="0">
                <a:solidFill>
                  <a:srgbClr val="2563EB"/>
                </a:solidFill>
                <a:latin typeface="Calibri"/>
              </a:rPr>
              <a:t>more</a:t>
            </a:r>
            <a:r>
              <a:rPr sz="1800" b="0" i="0">
                <a:solidFill>
                  <a:srgbClr val="1B263B"/>
                </a:solidFill>
                <a:latin typeface="Calibri"/>
              </a:rPr>
              <a:t> carefully, or does it lean on the patient details and look at the image </a:t>
            </a:r>
            <a:r>
              <a:rPr sz="1800" b="1" i="0">
                <a:solidFill>
                  <a:srgbClr val="C02B2B"/>
                </a:solidFill>
                <a:latin typeface="Calibri"/>
              </a:rPr>
              <a:t>less</a:t>
            </a:r>
            <a:r>
              <a:rPr sz="1800" b="0" i="0">
                <a:solidFill>
                  <a:srgbClr val="1B263B"/>
                </a:solidFill>
                <a:latin typeface="Calibri"/>
              </a:rPr>
              <a:t>?</a:t>
            </a:r>
          </a:p>
          <a:p>
            <a:pPr>
              <a:spcAft>
                <a:spcPts val="1400"/>
              </a:spcAft>
            </a:pPr>
            <a:r>
              <a:rPr sz="1800" b="1" i="0">
                <a:solidFill>
                  <a:srgbClr val="2563EB"/>
                </a:solidFill>
                <a:latin typeface="Calibri"/>
              </a:rPr>
              <a:t>•  </a:t>
            </a:r>
            <a:r>
              <a:rPr sz="1800" b="0" i="0">
                <a:solidFill>
                  <a:srgbClr val="1B263B"/>
                </a:solidFill>
                <a:latin typeface="Calibri"/>
              </a:rPr>
              <a:t>This matters in the clinic. A model that quietly stops looking at the image still scores well on a test set - then fails on a patient whose details are unusual, missing, or come from a different hospital.</a:t>
            </a:r>
          </a:p>
          <a:p>
            <a:pPr>
              <a:spcAft>
                <a:spcPts val="1400"/>
              </a:spcAft>
            </a:pPr>
            <a:r>
              <a:rPr sz="1800" b="1" i="0">
                <a:solidFill>
                  <a:srgbClr val="1B263B"/>
                </a:solidFill>
                <a:latin typeface="Calibri"/>
              </a:rPr>
              <a:t>Accuracy alone cannot tell these two models apart. Something else must.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WHY THIS IS WORTH A PAPER</a:t>
            </a:r>
          </a:p>
          <a:p>
            <a:r>
              <a:rPr sz="2600" b="1" i="0">
                <a:solidFill>
                  <a:srgbClr val="FFFFFF"/>
                </a:solidFill>
                <a:latin typeface="Calibri"/>
              </a:rPr>
              <a:t>Everyone reports accuracy; nobody checks the evidence</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5212080"/>
          </a:xfrm>
          <a:prstGeom prst="rect">
            <a:avLst/>
          </a:prstGeom>
          <a:noFill/>
        </p:spPr>
        <p:txBody>
          <a:bodyPr wrap="square">
            <a:spAutoFit/>
          </a:bodyPr>
          <a:lstStyle/>
          <a:p>
            <a:pPr>
              <a:spcAft>
                <a:spcPts val="1000"/>
              </a:spcAft>
            </a:pPr>
            <a:r>
              <a:rPr sz="1700" b="1" i="0">
                <a:solidFill>
                  <a:srgbClr val="0F766E"/>
                </a:solidFill>
                <a:latin typeface="Calibri"/>
              </a:rPr>
              <a:t>What the field already does well:</a:t>
            </a:r>
          </a:p>
          <a:p>
            <a:pPr>
              <a:spcAft>
                <a:spcPts val="1000"/>
              </a:spcAft>
            </a:pPr>
            <a:r>
              <a:rPr sz="1600" b="1" i="0">
                <a:solidFill>
                  <a:srgbClr val="6B7280"/>
                </a:solidFill>
                <a:latin typeface="Calibri"/>
              </a:rPr>
              <a:t>   -  </a:t>
            </a:r>
            <a:r>
              <a:rPr sz="1600" b="0" i="0">
                <a:solidFill>
                  <a:srgbClr val="6B7280"/>
                </a:solidFill>
                <a:latin typeface="Calibri"/>
              </a:rPr>
              <a:t>Combines images with patient details in many ways - concatenation, FiLM, MetaBlock, cross-attention transformers.</a:t>
            </a:r>
          </a:p>
          <a:p>
            <a:pPr>
              <a:spcAft>
                <a:spcPts val="1000"/>
              </a:spcAft>
            </a:pPr>
            <a:r>
              <a:rPr sz="1600" b="1" i="0">
                <a:solidFill>
                  <a:srgbClr val="6B7280"/>
                </a:solidFill>
                <a:latin typeface="Calibri"/>
              </a:rPr>
              <a:t>   -  </a:t>
            </a:r>
            <a:r>
              <a:rPr sz="1600" b="0" i="0">
                <a:solidFill>
                  <a:srgbClr val="6B7280"/>
                </a:solidFill>
                <a:latin typeface="Calibri"/>
              </a:rPr>
              <a:t>Reports the accuracy gain, usually several points.</a:t>
            </a:r>
          </a:p>
          <a:p>
            <a:pPr>
              <a:spcAft>
                <a:spcPts val="1000"/>
              </a:spcAft>
            </a:pPr>
            <a:r>
              <a:rPr sz="1700" b="1" i="0">
                <a:solidFill>
                  <a:srgbClr val="C02B2B"/>
                </a:solidFill>
                <a:latin typeface="Calibri"/>
              </a:rPr>
              <a:t>What almost nobody does:</a:t>
            </a:r>
          </a:p>
          <a:p>
            <a:pPr>
              <a:spcAft>
                <a:spcPts val="1000"/>
              </a:spcAft>
            </a:pPr>
            <a:r>
              <a:rPr sz="1600" b="1" i="0">
                <a:solidFill>
                  <a:srgbClr val="6B7280"/>
                </a:solidFill>
                <a:latin typeface="Calibri"/>
              </a:rPr>
              <a:t>   -  </a:t>
            </a:r>
            <a:r>
              <a:rPr sz="1600" b="0" i="0">
                <a:solidFill>
                  <a:srgbClr val="6B7280"/>
                </a:solidFill>
                <a:latin typeface="Calibri"/>
              </a:rPr>
              <a:t>Check whether the model's visual evidence actually sits on the lesion, measured against outlines drawn by dermatologists.</a:t>
            </a:r>
          </a:p>
          <a:p>
            <a:pPr>
              <a:spcAft>
                <a:spcPts val="1000"/>
              </a:spcAft>
            </a:pPr>
            <a:r>
              <a:rPr sz="1600" b="1" i="0">
                <a:solidFill>
                  <a:srgbClr val="6B7280"/>
                </a:solidFill>
                <a:latin typeface="Calibri"/>
              </a:rPr>
              <a:t>   -  </a:t>
            </a:r>
            <a:r>
              <a:rPr sz="1600" b="0" i="0">
                <a:solidFill>
                  <a:srgbClr val="6B7280"/>
                </a:solidFill>
                <a:latin typeface="Calibri"/>
              </a:rPr>
              <a:t>A 2026 review of 82 multimodal medical-AI studies found that standardised evaluation of explanations is missing in the majority - they rely on eyeballing heat maps.</a:t>
            </a:r>
          </a:p>
          <a:p>
            <a:pPr>
              <a:spcAft>
                <a:spcPts val="1000"/>
              </a:spcAft>
            </a:pPr>
            <a:r>
              <a:rPr sz="1700" b="1" i="0">
                <a:solidFill>
                  <a:srgbClr val="1B263B"/>
                </a:solidFill>
                <a:latin typeface="Calibri"/>
              </a:rPr>
              <a:t>The gap: no published work measures whether adding patient details improves or damages a model's visual grounding. That is exactly what we measure.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NOVELTY  ·  THE HEART OF THIS WORK</a:t>
            </a:r>
          </a:p>
          <a:p>
            <a:r>
              <a:rPr sz="2600" b="1" i="0">
                <a:solidFill>
                  <a:srgbClr val="FFFFFF"/>
                </a:solidFill>
                <a:latin typeface="Calibri"/>
              </a:rPr>
              <a:t>Four things here that do not exist elsewhere</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508760"/>
            <a:ext cx="5349240" cy="2286000"/>
          </a:xfrm>
          <a:prstGeom prst="roundRect">
            <a:avLst/>
          </a:prstGeom>
          <a:solidFill>
            <a:srgbClr val="FFFF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600" b="1" i="0">
                <a:solidFill>
                  <a:srgbClr val="2563EB"/>
                </a:solidFill>
                <a:latin typeface="Calibri"/>
              </a:rPr>
              <a:t>N1  New benchmark</a:t>
            </a:r>
          </a:p>
          <a:p>
            <a:pPr>
              <a:spcBef>
                <a:spcPts val="400"/>
              </a:spcBef>
            </a:pPr>
            <a:r>
              <a:rPr sz="1250" b="0" i="0">
                <a:solidFill>
                  <a:srgbClr val="1B263B"/>
                </a:solidFill>
                <a:latin typeface="Calibri"/>
              </a:rPr>
              <a:t>A controlled 'metadata trap': a patient detail is made to predict the diagnosis in training, then reversed at test - crossed with image-artifact traps to form a 2-D shortcut grid. Trap sets existed only for image artifacts before.</a:t>
            </a:r>
          </a:p>
        </p:txBody>
      </p:sp>
      <p:sp>
        <p:nvSpPr>
          <p:cNvPr id="7" name="Rounded Rectangle 6"/>
          <p:cNvSpPr/>
          <p:nvPr/>
        </p:nvSpPr>
        <p:spPr>
          <a:xfrm>
            <a:off x="6355080" y="1508760"/>
            <a:ext cx="5349240" cy="2286000"/>
          </a:xfrm>
          <a:prstGeom prst="roundRect">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600" b="1" i="0">
                <a:solidFill>
                  <a:srgbClr val="0F766E"/>
                </a:solidFill>
                <a:latin typeface="Calibri"/>
              </a:rPr>
              <a:t>N2  New measurement</a:t>
            </a:r>
          </a:p>
          <a:p>
            <a:pPr>
              <a:spcBef>
                <a:spcPts val="400"/>
              </a:spcBef>
            </a:pPr>
            <a:r>
              <a:rPr sz="1250" b="0" i="0">
                <a:solidFill>
                  <a:srgbClr val="1B263B"/>
                </a:solidFill>
                <a:latin typeface="Calibri"/>
              </a:rPr>
              <a:t>A counterfactual test: hold the image fixed, change one patient detail, and measure how far the visual evidence moves. Needs no human annotation, so it runs on any dataset with metadata. Not done before.</a:t>
            </a:r>
          </a:p>
        </p:txBody>
      </p:sp>
      <p:sp>
        <p:nvSpPr>
          <p:cNvPr id="8" name="Rounded Rectangle 7"/>
          <p:cNvSpPr/>
          <p:nvPr/>
        </p:nvSpPr>
        <p:spPr>
          <a:xfrm>
            <a:off x="502920" y="3977639"/>
            <a:ext cx="5349240" cy="2286000"/>
          </a:xfrm>
          <a:prstGeom prst="roundRect">
            <a:avLst/>
          </a:prstGeom>
          <a:solidFill>
            <a:srgbClr val="FFFFFF"/>
          </a:solidFill>
          <a:ln w="19050">
            <a:solidFill>
              <a:srgbClr val="C02B2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600" b="1" i="0">
                <a:solidFill>
                  <a:srgbClr val="C02B2B"/>
                </a:solidFill>
                <a:latin typeface="Calibri"/>
              </a:rPr>
              <a:t>N3  First grounding audit</a:t>
            </a:r>
          </a:p>
          <a:p>
            <a:pPr>
              <a:spcBef>
                <a:spcPts val="400"/>
              </a:spcBef>
            </a:pPr>
            <a:r>
              <a:rPr sz="1250" b="0" i="0">
                <a:solidFill>
                  <a:srgbClr val="1B263B"/>
                </a:solidFill>
                <a:latin typeface="Calibri"/>
              </a:rPr>
              <a:t>The first like-for-like, quantitative comparison of WHERE five fusion mechanisms look, scored against dermatologist masks - not illustrative heat maps, actual numbers with confidence intervals.</a:t>
            </a:r>
          </a:p>
        </p:txBody>
      </p:sp>
      <p:sp>
        <p:nvSpPr>
          <p:cNvPr id="9" name="Rounded Rectangle 8"/>
          <p:cNvSpPr/>
          <p:nvPr/>
        </p:nvSpPr>
        <p:spPr>
          <a:xfrm>
            <a:off x="6355080" y="3977639"/>
            <a:ext cx="5349240" cy="2286000"/>
          </a:xfrm>
          <a:prstGeom prst="roundRect">
            <a:avLst/>
          </a:prstGeom>
          <a:solidFill>
            <a:srgbClr val="FFFFFF"/>
          </a:solidFill>
          <a:ln w="19050">
            <a:solidFill>
              <a:srgbClr val="157F3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600" b="1" i="0">
                <a:solidFill>
                  <a:srgbClr val="157F3B"/>
                </a:solidFill>
                <a:latin typeface="Calibri"/>
              </a:rPr>
              <a:t>N4  A finding, not a widget</a:t>
            </a:r>
          </a:p>
          <a:p>
            <a:pPr>
              <a:spcBef>
                <a:spcPts val="400"/>
              </a:spcBef>
            </a:pPr>
            <a:r>
              <a:rPr sz="1250" b="0" i="0">
                <a:solidFill>
                  <a:srgbClr val="1B263B"/>
                </a:solidFill>
                <a:latin typeface="Calibri"/>
              </a:rPr>
              <a:t>The result overturns a natural assumption: it is the fusion mechanism, not the presence of metadata, that decides grounding - and the simplest method wins while the fanciest degrades.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DATA</a:t>
            </a:r>
          </a:p>
          <a:p>
            <a:r>
              <a:rPr sz="2600" b="1" i="0">
                <a:solidFill>
                  <a:srgbClr val="FFFFFF"/>
                </a:solidFill>
                <a:latin typeface="Calibri"/>
              </a:rPr>
              <a:t>Three public datasets, every download verified</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463040"/>
          <a:ext cx="11155680" cy="2377440"/>
        </p:xfrm>
        <a:graphic>
          <a:graphicData uri="http://schemas.openxmlformats.org/drawingml/2006/table">
            <a:tbl>
              <a:tblPr firstRow="1" bandRow="1">
                <a:tableStyleId>{5C22544A-7EE6-4342-B048-85BDC9FD1C3A}</a:tableStyleId>
              </a:tblPr>
              <a:tblGrid>
                <a:gridCol w="594360"/>
                <a:gridCol w="2194560"/>
                <a:gridCol w="5806440"/>
                <a:gridCol w="2560320"/>
              </a:tblGrid>
              <a:tr h="475488">
                <a:tc>
                  <a:txBody>
                    <a:bodyPr/>
                    <a:lstStyle/>
                    <a:p>
                      <a:r>
                        <a:rPr sz="1300" b="1">
                          <a:solidFill>
                            <a:srgbClr val="FFFFFF"/>
                          </a:solidFill>
                          <a:latin typeface="Calibri"/>
                        </a:rPr>
                        <a:t>ID</a:t>
                      </a:r>
                    </a:p>
                  </a:txBody>
                  <a:tcPr anchor="ctr">
                    <a:solidFill>
                      <a:srgbClr val="1E3A5F"/>
                    </a:solidFill>
                  </a:tcPr>
                </a:tc>
                <a:tc>
                  <a:txBody>
                    <a:bodyPr/>
                    <a:lstStyle/>
                    <a:p>
                      <a:r>
                        <a:rPr sz="1300" b="1">
                          <a:solidFill>
                            <a:srgbClr val="FFFFFF"/>
                          </a:solidFill>
                          <a:latin typeface="Calibri"/>
                        </a:rPr>
                        <a:t>Dataset</a:t>
                      </a:r>
                    </a:p>
                  </a:txBody>
                  <a:tcPr anchor="ctr">
                    <a:solidFill>
                      <a:srgbClr val="1E3A5F"/>
                    </a:solidFill>
                  </a:tcPr>
                </a:tc>
                <a:tc>
                  <a:txBody>
                    <a:bodyPr/>
                    <a:lstStyle/>
                    <a:p>
                      <a:r>
                        <a:rPr sz="1300" b="1">
                          <a:solidFill>
                            <a:srgbClr val="FFFFFF"/>
                          </a:solidFill>
                          <a:latin typeface="Calibri"/>
                        </a:rPr>
                        <a:t>What it gives us</a:t>
                      </a:r>
                    </a:p>
                  </a:txBody>
                  <a:tcPr anchor="ctr">
                    <a:solidFill>
                      <a:srgbClr val="1E3A5F"/>
                    </a:solidFill>
                  </a:tcPr>
                </a:tc>
                <a:tc>
                  <a:txBody>
                    <a:bodyPr/>
                    <a:lstStyle/>
                    <a:p>
                      <a:r>
                        <a:rPr sz="1300" b="1">
                          <a:solidFill>
                            <a:srgbClr val="FFFFFF"/>
                          </a:solidFill>
                          <a:latin typeface="Calibri"/>
                        </a:rPr>
                        <a:t>Role</a:t>
                      </a:r>
                    </a:p>
                  </a:txBody>
                  <a:tcPr anchor="ctr">
                    <a:solidFill>
                      <a:srgbClr val="1E3A5F"/>
                    </a:solidFill>
                  </a:tcPr>
                </a:tc>
              </a:tr>
              <a:tr h="475488">
                <a:tc>
                  <a:txBody>
                    <a:bodyPr/>
                    <a:lstStyle/>
                    <a:p>
                      <a:r>
                        <a:rPr sz="1300" b="0">
                          <a:solidFill>
                            <a:srgbClr val="1B263B"/>
                          </a:solidFill>
                          <a:latin typeface="Calibri"/>
                        </a:rPr>
                        <a:t>A</a:t>
                      </a:r>
                    </a:p>
                  </a:txBody>
                  <a:tcPr anchor="ctr">
                    <a:solidFill>
                      <a:srgbClr val="F1F5F9"/>
                    </a:solidFill>
                  </a:tcPr>
                </a:tc>
                <a:tc>
                  <a:txBody>
                    <a:bodyPr/>
                    <a:lstStyle/>
                    <a:p>
                      <a:r>
                        <a:rPr sz="1300" b="0">
                          <a:solidFill>
                            <a:srgbClr val="1B263B"/>
                          </a:solidFill>
                          <a:latin typeface="Calibri"/>
                        </a:rPr>
                        <a:t>PAD-UFES-20</a:t>
                      </a:r>
                    </a:p>
                  </a:txBody>
                  <a:tcPr anchor="ctr">
                    <a:solidFill>
                      <a:srgbClr val="F1F5F9"/>
                    </a:solidFill>
                  </a:tcPr>
                </a:tc>
                <a:tc>
                  <a:txBody>
                    <a:bodyPr/>
                    <a:lstStyle/>
                    <a:p>
                      <a:r>
                        <a:rPr sz="1300" b="0">
                          <a:solidFill>
                            <a:srgbClr val="1B263B"/>
                          </a:solidFill>
                          <a:latin typeface="Calibri"/>
                        </a:rPr>
                        <a:t>2,298 phone photos, 1,373 patients, 21 fields</a:t>
                      </a:r>
                    </a:p>
                  </a:txBody>
                  <a:tcPr anchor="ctr">
                    <a:solidFill>
                      <a:srgbClr val="F1F5F9"/>
                    </a:solidFill>
                  </a:tcPr>
                </a:tc>
                <a:tc>
                  <a:txBody>
                    <a:bodyPr/>
                    <a:lstStyle/>
                    <a:p>
                      <a:r>
                        <a:rPr sz="1300" b="0">
                          <a:solidFill>
                            <a:srgbClr val="1B263B"/>
                          </a:solidFill>
                          <a:latin typeface="Calibri"/>
                        </a:rPr>
                        <a:t>Rich-metadata tests</a:t>
                      </a:r>
                    </a:p>
                  </a:txBody>
                  <a:tcPr anchor="ctr">
                    <a:solidFill>
                      <a:srgbClr val="F1F5F9"/>
                    </a:solidFill>
                  </a:tcPr>
                </a:tc>
              </a:tr>
              <a:tr h="475488">
                <a:tc>
                  <a:txBody>
                    <a:bodyPr/>
                    <a:lstStyle/>
                    <a:p>
                      <a:r>
                        <a:rPr sz="1300" b="0">
                          <a:solidFill>
                            <a:srgbClr val="1B263B"/>
                          </a:solidFill>
                          <a:latin typeface="Calibri"/>
                        </a:rPr>
                        <a:t>B</a:t>
                      </a:r>
                    </a:p>
                  </a:txBody>
                  <a:tcPr anchor="ctr">
                    <a:solidFill>
                      <a:srgbClr val="FFFFFF"/>
                    </a:solidFill>
                  </a:tcPr>
                </a:tc>
                <a:tc>
                  <a:txBody>
                    <a:bodyPr/>
                    <a:lstStyle/>
                    <a:p>
                      <a:r>
                        <a:rPr sz="1300" b="0">
                          <a:solidFill>
                            <a:srgbClr val="1B263B"/>
                          </a:solidFill>
                          <a:latin typeface="Calibri"/>
                        </a:rPr>
                        <a:t>HAM10000</a:t>
                      </a:r>
                    </a:p>
                  </a:txBody>
                  <a:tcPr anchor="ctr">
                    <a:solidFill>
                      <a:srgbClr val="FFFFFF"/>
                    </a:solidFill>
                  </a:tcPr>
                </a:tc>
                <a:tc>
                  <a:txBody>
                    <a:bodyPr/>
                    <a:lstStyle/>
                    <a:p>
                      <a:r>
                        <a:rPr sz="1300" b="0">
                          <a:solidFill>
                            <a:srgbClr val="1B263B"/>
                          </a:solidFill>
                          <a:latin typeface="Calibri"/>
                        </a:rPr>
                        <a:t>10,015 dermoscopy images + lesion outlines</a:t>
                      </a:r>
                    </a:p>
                  </a:txBody>
                  <a:tcPr anchor="ctr">
                    <a:solidFill>
                      <a:srgbClr val="FFFFFF"/>
                    </a:solidFill>
                  </a:tcPr>
                </a:tc>
                <a:tc>
                  <a:txBody>
                    <a:bodyPr/>
                    <a:lstStyle/>
                    <a:p>
                      <a:r>
                        <a:rPr sz="1300" b="0">
                          <a:solidFill>
                            <a:srgbClr val="1B263B"/>
                          </a:solidFill>
                          <a:latin typeface="Calibri"/>
                        </a:rPr>
                        <a:t>Where-it-looks tests</a:t>
                      </a:r>
                    </a:p>
                  </a:txBody>
                  <a:tcPr anchor="ctr">
                    <a:solidFill>
                      <a:srgbClr val="FFFFFF"/>
                    </a:solidFill>
                  </a:tcPr>
                </a:tc>
              </a:tr>
              <a:tr h="475488">
                <a:tc>
                  <a:txBody>
                    <a:bodyPr/>
                    <a:lstStyle/>
                    <a:p>
                      <a:r>
                        <a:rPr sz="1300" b="0">
                          <a:solidFill>
                            <a:srgbClr val="1B263B"/>
                          </a:solidFill>
                          <a:latin typeface="Calibri"/>
                        </a:rPr>
                        <a:t>C</a:t>
                      </a:r>
                    </a:p>
                  </a:txBody>
                  <a:tcPr anchor="ctr">
                    <a:solidFill>
                      <a:srgbClr val="F1F5F9"/>
                    </a:solidFill>
                  </a:tcPr>
                </a:tc>
                <a:tc>
                  <a:txBody>
                    <a:bodyPr/>
                    <a:lstStyle/>
                    <a:p>
                      <a:r>
                        <a:rPr sz="1300" b="0">
                          <a:solidFill>
                            <a:srgbClr val="1B263B"/>
                          </a:solidFill>
                          <a:latin typeface="Calibri"/>
                        </a:rPr>
                        <a:t>ISIC 2019 + traps</a:t>
                      </a:r>
                    </a:p>
                  </a:txBody>
                  <a:tcPr anchor="ctr">
                    <a:solidFill>
                      <a:srgbClr val="F1F5F9"/>
                    </a:solidFill>
                  </a:tcPr>
                </a:tc>
                <a:tc>
                  <a:txBody>
                    <a:bodyPr/>
                    <a:lstStyle/>
                    <a:p>
                      <a:r>
                        <a:rPr sz="1300" b="0">
                          <a:solidFill>
                            <a:srgbClr val="1B263B"/>
                          </a:solidFill>
                          <a:latin typeface="Calibri"/>
                        </a:rPr>
                        <a:t>25,331 images with shortcut splits</a:t>
                      </a:r>
                    </a:p>
                  </a:txBody>
                  <a:tcPr anchor="ctr">
                    <a:solidFill>
                      <a:srgbClr val="F1F5F9"/>
                    </a:solidFill>
                  </a:tcPr>
                </a:tc>
                <a:tc>
                  <a:txBody>
                    <a:bodyPr/>
                    <a:lstStyle/>
                    <a:p>
                      <a:r>
                        <a:rPr sz="1300" b="0">
                          <a:solidFill>
                            <a:srgbClr val="1B263B"/>
                          </a:solidFill>
                          <a:latin typeface="Calibri"/>
                        </a:rPr>
                        <a:t>Shortcut robustness</a:t>
                      </a:r>
                    </a:p>
                  </a:txBody>
                  <a:tcPr anchor="ctr">
                    <a:solidFill>
                      <a:srgbClr val="F1F5F9"/>
                    </a:solidFill>
                  </a:tcPr>
                </a:tc>
              </a:tr>
              <a:tr h="475488">
                <a:tc>
                  <a:txBody>
                    <a:bodyPr/>
                    <a:lstStyle/>
                    <a:p>
                      <a:r>
                        <a:rPr sz="1300" b="0">
                          <a:solidFill>
                            <a:srgbClr val="1B263B"/>
                          </a:solidFill>
                          <a:latin typeface="Calibri"/>
                        </a:rPr>
                        <a:t>D</a:t>
                      </a:r>
                    </a:p>
                  </a:txBody>
                  <a:tcPr anchor="ctr">
                    <a:solidFill>
                      <a:srgbClr val="FFFFFF"/>
                    </a:solidFill>
                  </a:tcPr>
                </a:tc>
                <a:tc>
                  <a:txBody>
                    <a:bodyPr/>
                    <a:lstStyle/>
                    <a:p>
                      <a:r>
                        <a:rPr sz="1300" b="0">
                          <a:solidFill>
                            <a:srgbClr val="1B263B"/>
                          </a:solidFill>
                          <a:latin typeface="Calibri"/>
                        </a:rPr>
                        <a:t>DDI (planned)</a:t>
                      </a:r>
                    </a:p>
                  </a:txBody>
                  <a:tcPr anchor="ctr">
                    <a:solidFill>
                      <a:srgbClr val="FFFFFF"/>
                    </a:solidFill>
                  </a:tcPr>
                </a:tc>
                <a:tc>
                  <a:txBody>
                    <a:bodyPr/>
                    <a:lstStyle/>
                    <a:p>
                      <a:r>
                        <a:rPr sz="1300" b="0">
                          <a:solidFill>
                            <a:srgbClr val="1B263B"/>
                          </a:solidFill>
                          <a:latin typeface="Calibri"/>
                        </a:rPr>
                        <a:t>656 biopsy-proven, skin-tone balanced</a:t>
                      </a:r>
                    </a:p>
                  </a:txBody>
                  <a:tcPr anchor="ctr">
                    <a:solidFill>
                      <a:srgbClr val="FFFFFF"/>
                    </a:solidFill>
                  </a:tcPr>
                </a:tc>
                <a:tc>
                  <a:txBody>
                    <a:bodyPr/>
                    <a:lstStyle/>
                    <a:p>
                      <a:r>
                        <a:rPr sz="1300" b="0">
                          <a:solidFill>
                            <a:srgbClr val="1B263B"/>
                          </a:solidFill>
                          <a:latin typeface="Calibri"/>
                        </a:rPr>
                        <a:t>Fairness (pending)</a:t>
                      </a:r>
                    </a:p>
                  </a:txBody>
                  <a:tcPr anchor="ctr">
                    <a:solidFill>
                      <a:srgbClr val="FFFFFF"/>
                    </a:solidFill>
                  </a:tcPr>
                </a:tc>
              </a:tr>
            </a:tbl>
          </a:graphicData>
        </a:graphic>
      </p:graphicFrame>
      <p:sp>
        <p:nvSpPr>
          <p:cNvPr id="7" name="TextBox 6"/>
          <p:cNvSpPr txBox="1"/>
          <p:nvPr/>
        </p:nvSpPr>
        <p:spPr>
          <a:xfrm>
            <a:off x="640080" y="4800600"/>
            <a:ext cx="10972800" cy="1874520"/>
          </a:xfrm>
          <a:prstGeom prst="rect">
            <a:avLst/>
          </a:prstGeom>
          <a:noFill/>
        </p:spPr>
        <p:txBody>
          <a:bodyPr wrap="square">
            <a:spAutoFit/>
          </a:bodyPr>
          <a:lstStyle/>
          <a:p>
            <a:pPr>
              <a:spcAft>
                <a:spcPts val="800"/>
              </a:spcAft>
            </a:pPr>
            <a:r>
              <a:rPr sz="1400" b="1" i="0">
                <a:solidFill>
                  <a:srgbClr val="1B263B"/>
                </a:solidFill>
                <a:latin typeface="Calibri"/>
              </a:rPr>
              <a:t>A useful accident: </a:t>
            </a:r>
            <a:r>
              <a:rPr sz="1400" b="0" i="0">
                <a:solidFill>
                  <a:srgbClr val="1B263B"/>
                </a:solidFill>
                <a:latin typeface="Calibri"/>
              </a:rPr>
              <a:t>9,083 images belong to both B and C, so for those we have the lesion outline, the patient details and the shortcut labels all at once.</a:t>
            </a:r>
          </a:p>
          <a:p>
            <a:pPr>
              <a:spcAft>
                <a:spcPts val="800"/>
              </a:spcAft>
            </a:pPr>
            <a:r>
              <a:rPr sz="1400" b="0" i="0">
                <a:solidFill>
                  <a:srgbClr val="6B7280"/>
                </a:solidFill>
                <a:latin typeface="Calibri"/>
              </a:rPr>
              <a:t>Splits are grouped so no patient is ever on both sides - otherwise the model learns the patient, not the disease.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METHOD  ·  MODELS</a:t>
            </a:r>
          </a:p>
          <a:p>
            <a:r>
              <a:rPr sz="2600" b="1" i="0">
                <a:solidFill>
                  <a:srgbClr val="FFFFFF"/>
                </a:solidFill>
                <a:latin typeface="Calibri"/>
              </a:rPr>
              <a:t>Six models, one difference between them</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10972800" cy="3977639"/>
          </a:xfrm>
          <a:prstGeom prst="rect">
            <a:avLst/>
          </a:prstGeom>
          <a:noFill/>
        </p:spPr>
        <p:txBody>
          <a:bodyPr wrap="square">
            <a:spAutoFit/>
          </a:bodyPr>
          <a:lstStyle/>
          <a:p>
            <a:pPr>
              <a:spcAft>
                <a:spcPts val="1200"/>
              </a:spcAft>
            </a:pPr>
            <a:r>
              <a:rPr sz="1800" b="1" i="0">
                <a:solidFill>
                  <a:srgbClr val="6B7280"/>
                </a:solidFill>
                <a:latin typeface="Calibri"/>
              </a:rPr>
              <a:t>B0  Image only</a:t>
            </a:r>
            <a:r>
              <a:rPr sz="1800" b="0" i="0">
                <a:solidFill>
                  <a:srgbClr val="1B263B"/>
                </a:solidFill>
                <a:latin typeface="Calibri"/>
              </a:rPr>
              <a:t>  -  the reference point.</a:t>
            </a:r>
          </a:p>
          <a:p>
            <a:pPr>
              <a:spcAft>
                <a:spcPts val="1200"/>
              </a:spcAft>
            </a:pPr>
            <a:r>
              <a:rPr sz="1800" b="1" i="0">
                <a:solidFill>
                  <a:srgbClr val="6B7280"/>
                </a:solidFill>
                <a:latin typeface="Calibri"/>
              </a:rPr>
              <a:t>B1  Metadata only</a:t>
            </a:r>
            <a:r>
              <a:rPr sz="1800" b="0" i="0">
                <a:solidFill>
                  <a:srgbClr val="1B263B"/>
                </a:solidFill>
                <a:latin typeface="Calibri"/>
              </a:rPr>
              <a:t>  -  patient details, no image.</a:t>
            </a:r>
          </a:p>
          <a:p>
            <a:pPr>
              <a:spcAft>
                <a:spcPts val="1200"/>
              </a:spcAft>
            </a:pPr>
            <a:r>
              <a:rPr sz="1800" b="1" i="0">
                <a:solidFill>
                  <a:srgbClr val="2563EB"/>
                </a:solidFill>
                <a:latin typeface="Calibri"/>
              </a:rPr>
              <a:t>B3  Concatenation</a:t>
            </a:r>
            <a:r>
              <a:rPr sz="1800" b="0" i="0">
                <a:solidFill>
                  <a:srgbClr val="1B263B"/>
                </a:solidFill>
                <a:latin typeface="Calibri"/>
              </a:rPr>
              <a:t>  -  simplest: join the two sets of numbers.</a:t>
            </a:r>
          </a:p>
          <a:p>
            <a:pPr>
              <a:spcAft>
                <a:spcPts val="1200"/>
              </a:spcAft>
            </a:pPr>
            <a:r>
              <a:rPr sz="1800" b="1" i="0">
                <a:solidFill>
                  <a:srgbClr val="0F766E"/>
                </a:solidFill>
                <a:latin typeface="Calibri"/>
              </a:rPr>
              <a:t>B4  FiLM</a:t>
            </a:r>
            <a:r>
              <a:rPr sz="1800" b="0" i="0">
                <a:solidFill>
                  <a:srgbClr val="1B263B"/>
                </a:solidFill>
                <a:latin typeface="Calibri"/>
              </a:rPr>
              <a:t>  -  patient details rescale the image features.</a:t>
            </a:r>
          </a:p>
          <a:p>
            <a:pPr>
              <a:spcAft>
                <a:spcPts val="1200"/>
              </a:spcAft>
            </a:pPr>
            <a:r>
              <a:rPr sz="1800" b="1" i="0">
                <a:solidFill>
                  <a:srgbClr val="C02B2B"/>
                </a:solidFill>
                <a:latin typeface="Calibri"/>
              </a:rPr>
              <a:t>B5  MetaBlock</a:t>
            </a:r>
            <a:r>
              <a:rPr sz="1800" b="0" i="0">
                <a:solidFill>
                  <a:srgbClr val="1B263B"/>
                </a:solidFill>
                <a:latin typeface="Calibri"/>
              </a:rPr>
              <a:t>  -  a published attention block for this task.</a:t>
            </a:r>
          </a:p>
          <a:p>
            <a:pPr>
              <a:spcAft>
                <a:spcPts val="1200"/>
              </a:spcAft>
            </a:pPr>
            <a:r>
              <a:rPr sz="1800" b="1" i="0">
                <a:solidFill>
                  <a:srgbClr val="7C3AED"/>
                </a:solidFill>
                <a:latin typeface="Calibri"/>
              </a:rPr>
              <a:t>M1  Cross-attention</a:t>
            </a:r>
            <a:r>
              <a:rPr sz="1800" b="0" i="0">
                <a:solidFill>
                  <a:srgbClr val="1B263B"/>
                </a:solidFill>
                <a:latin typeface="Calibri"/>
              </a:rPr>
              <a:t>  -  the image queries the patient details (the design we first proposed).</a:t>
            </a:r>
          </a:p>
        </p:txBody>
      </p:sp>
      <p:sp>
        <p:nvSpPr>
          <p:cNvPr id="7" name="Rounded Rectangle 6"/>
          <p:cNvSpPr/>
          <p:nvPr/>
        </p:nvSpPr>
        <p:spPr>
          <a:xfrm>
            <a:off x="640080" y="5623560"/>
            <a:ext cx="10972800" cy="914400"/>
          </a:xfrm>
          <a:prstGeom prst="roundRect">
            <a:avLst/>
          </a:prstGeom>
          <a:solidFill>
            <a:srgbClr val="F1F5F9"/>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400" b="1" i="0">
                <a:solidFill>
                  <a:srgbClr val="1B263B"/>
                </a:solidFill>
                <a:latin typeface="Calibri"/>
              </a:rPr>
              <a:t>Same backbone, same images, same training recipe, same tuning budget for all. Only the fusion mechanism differs - so any difference is caused by the mechanism.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METHOD  ·  HOW WE MEASURE EVIDENCE</a:t>
            </a:r>
          </a:p>
          <a:p>
            <a:r>
              <a:rPr sz="2600" b="1" i="0">
                <a:solidFill>
                  <a:srgbClr val="FFFFFF"/>
                </a:solidFill>
                <a:latin typeface="Calibri"/>
              </a:rPr>
              <a:t>Five pre-registered measurements</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3703320"/>
          </a:xfrm>
          <a:prstGeom prst="rect">
            <a:avLst/>
          </a:prstGeom>
          <a:noFill/>
        </p:spPr>
        <p:txBody>
          <a:bodyPr wrap="square">
            <a:spAutoFit/>
          </a:bodyPr>
          <a:lstStyle/>
          <a:p>
            <a:pPr>
              <a:spcAft>
                <a:spcPts val="900"/>
              </a:spcAft>
            </a:pPr>
            <a:r>
              <a:rPr sz="1600" b="1" i="0">
                <a:solidFill>
                  <a:srgbClr val="2563EB"/>
                </a:solidFill>
                <a:latin typeface="Calibri"/>
              </a:rPr>
              <a:t>P1  Grounding</a:t>
            </a:r>
            <a:r>
              <a:rPr sz="1600" b="0" i="0">
                <a:solidFill>
                  <a:srgbClr val="1B263B"/>
                </a:solidFill>
                <a:latin typeface="Calibri"/>
              </a:rPr>
              <a:t>  -  share of the model's attention that lands inside the dermatologist's lesion outline.</a:t>
            </a:r>
          </a:p>
          <a:p>
            <a:pPr>
              <a:spcAft>
                <a:spcPts val="900"/>
              </a:spcAft>
            </a:pPr>
            <a:r>
              <a:rPr sz="1600" b="1" i="0">
                <a:solidFill>
                  <a:srgbClr val="2563EB"/>
                </a:solidFill>
                <a:latin typeface="Calibri"/>
              </a:rPr>
              <a:t>P2  Image-shortcut resistance</a:t>
            </a:r>
            <a:r>
              <a:rPr sz="1600" b="0" i="0">
                <a:solidFill>
                  <a:srgbClr val="1B263B"/>
                </a:solidFill>
                <a:latin typeface="Calibri"/>
              </a:rPr>
              <a:t>  -  how fast accuracy falls as rulers/hair/ink are made to predict the diagnosis.</a:t>
            </a:r>
          </a:p>
          <a:p>
            <a:pPr>
              <a:spcAft>
                <a:spcPts val="900"/>
              </a:spcAft>
            </a:pPr>
            <a:r>
              <a:rPr sz="1600" b="1" i="0">
                <a:solidFill>
                  <a:srgbClr val="2563EB"/>
                </a:solidFill>
                <a:latin typeface="Calibri"/>
              </a:rPr>
              <a:t>P3  Offloading</a:t>
            </a:r>
            <a:r>
              <a:rPr sz="1600" b="0" i="0">
                <a:solidFill>
                  <a:srgbClr val="1B263B"/>
                </a:solidFill>
                <a:latin typeface="Calibri"/>
              </a:rPr>
              <a:t>  -  does planting a misleading patient detail pull attention off the lesion?</a:t>
            </a:r>
          </a:p>
          <a:p>
            <a:pPr>
              <a:spcAft>
                <a:spcPts val="900"/>
              </a:spcAft>
            </a:pPr>
            <a:r>
              <a:rPr sz="1600" b="1" i="0">
                <a:solidFill>
                  <a:srgbClr val="2563EB"/>
                </a:solidFill>
                <a:latin typeface="Calibri"/>
              </a:rPr>
              <a:t>P4  Counterfactual</a:t>
            </a:r>
            <a:r>
              <a:rPr sz="1600" b="0" i="0">
                <a:solidFill>
                  <a:srgbClr val="1B263B"/>
                </a:solidFill>
                <a:latin typeface="Calibri"/>
              </a:rPr>
              <a:t>  -  change one detail, keep the image fixed, measure how far the evidence moves.</a:t>
            </a:r>
          </a:p>
          <a:p>
            <a:pPr>
              <a:spcAft>
                <a:spcPts val="900"/>
              </a:spcAft>
            </a:pPr>
            <a:r>
              <a:rPr sz="1600" b="1" i="0">
                <a:solidFill>
                  <a:srgbClr val="2563EB"/>
                </a:solidFill>
                <a:latin typeface="Calibri"/>
              </a:rPr>
              <a:t>P5  Reliance</a:t>
            </a:r>
            <a:r>
              <a:rPr sz="1600" b="0" i="0">
                <a:solidFill>
                  <a:srgbClr val="1B263B"/>
                </a:solidFill>
                <a:latin typeface="Calibri"/>
              </a:rPr>
              <a:t>  -  accuracy lost when we remove the metadata vs. when we remove the image.</a:t>
            </a:r>
          </a:p>
        </p:txBody>
      </p:sp>
      <p:sp>
        <p:nvSpPr>
          <p:cNvPr id="7" name="Rounded Rectangle 6"/>
          <p:cNvSpPr/>
          <p:nvPr/>
        </p:nvSpPr>
        <p:spPr>
          <a:xfrm>
            <a:off x="640080" y="5349240"/>
            <a:ext cx="10972800" cy="123444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400" b="1" i="0">
                <a:solidFill>
                  <a:srgbClr val="9DB8D8"/>
                </a:solidFill>
                <a:latin typeface="Calibri"/>
              </a:rPr>
              <a:t>Trustworthy by design: </a:t>
            </a:r>
            <a:r>
              <a:rPr sz="1400" b="0" i="0">
                <a:solidFill>
                  <a:srgbClr val="FFFFFF"/>
                </a:solidFill>
                <a:latin typeface="Calibri"/>
              </a:rPr>
              <a:t>the full plan was frozen before any model was trained; every number carries a confidence interval; and the heat-map method passed the standard 'scramble the weights' safety check on every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RESULT 1  ·  ACCURACY</a:t>
            </a:r>
          </a:p>
          <a:p>
            <a:r>
              <a:rPr sz="2600" b="1" i="0">
                <a:solidFill>
                  <a:srgbClr val="FFFFFF"/>
                </a:solidFill>
                <a:latin typeface="Calibri"/>
              </a:rPr>
              <a:t>Fusion helps a lot - or barely - depending on the data</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accuracy.png"/>
          <p:cNvPicPr>
            <a:picLocks noChangeAspect="1"/>
          </p:cNvPicPr>
          <p:nvPr/>
        </p:nvPicPr>
        <p:blipFill>
          <a:blip r:embed="rId2"/>
          <a:stretch>
            <a:fillRect/>
          </a:stretch>
        </p:blipFill>
        <p:spPr>
          <a:xfrm>
            <a:off x="365760" y="2468880"/>
            <a:ext cx="5486400" cy="2086520"/>
          </a:xfrm>
          <a:prstGeom prst="rect">
            <a:avLst/>
          </a:prstGeom>
        </p:spPr>
      </p:pic>
      <p:sp>
        <p:nvSpPr>
          <p:cNvPr id="7" name="TextBox 6"/>
          <p:cNvSpPr txBox="1"/>
          <p:nvPr/>
        </p:nvSpPr>
        <p:spPr>
          <a:xfrm>
            <a:off x="6172200" y="1600200"/>
            <a:ext cx="5669280" cy="5074920"/>
          </a:xfrm>
          <a:prstGeom prst="rect">
            <a:avLst/>
          </a:prstGeom>
          <a:noFill/>
        </p:spPr>
        <p:txBody>
          <a:bodyPr wrap="square">
            <a:spAutoFit/>
          </a:bodyPr>
          <a:lstStyle/>
          <a:p>
            <a:pPr>
              <a:spcAft>
                <a:spcPts val="1200"/>
              </a:spcAft>
            </a:pPr>
            <a:r>
              <a:rPr sz="1500" b="1" i="0">
                <a:solidFill>
                  <a:srgbClr val="1B263B"/>
                </a:solidFill>
                <a:latin typeface="Calibri"/>
              </a:rPr>
              <a:t>PAD-UFES-20 (21 rich fields): </a:t>
            </a:r>
            <a:r>
              <a:rPr sz="1500" b="0" i="0">
                <a:solidFill>
                  <a:srgbClr val="1B263B"/>
                </a:solidFill>
                <a:latin typeface="Calibri"/>
              </a:rPr>
              <a:t>fusion adds about 8 points. Patient details alone (0.61) nearly match the image alone (0.64).</a:t>
            </a:r>
          </a:p>
          <a:p>
            <a:pPr>
              <a:spcAft>
                <a:spcPts val="1200"/>
              </a:spcAft>
            </a:pPr>
            <a:r>
              <a:rPr sz="1500" b="1" i="0">
                <a:solidFill>
                  <a:srgbClr val="1B263B"/>
                </a:solidFill>
                <a:latin typeface="Calibri"/>
              </a:rPr>
              <a:t>HAM10000 (only age/sex/site): </a:t>
            </a:r>
            <a:r>
              <a:rPr sz="1500" b="0" i="0">
                <a:solidFill>
                  <a:srgbClr val="1B263B"/>
                </a:solidFill>
                <a:latin typeface="Calibri"/>
              </a:rPr>
              <a:t>fusion adds at most ~1.8 points; details alone score just 0.29.</a:t>
            </a:r>
          </a:p>
          <a:p>
            <a:pPr>
              <a:spcAft>
                <a:spcPts val="1200"/>
              </a:spcAft>
            </a:pPr>
            <a:r>
              <a:rPr sz="1500" b="1" i="0">
                <a:solidFill>
                  <a:srgbClr val="2563EB"/>
                </a:solidFill>
                <a:latin typeface="Calibri"/>
              </a:rPr>
              <a:t>Two regimes in one study</a:t>
            </a:r>
            <a:r>
              <a:rPr sz="1500" b="0" i="0">
                <a:solidFill>
                  <a:srgbClr val="1B263B"/>
                </a:solidFill>
                <a:latin typeface="Calibri"/>
              </a:rPr>
              <a:t> - one where metadata is powerful, one where it is weak. That contrast is a strength.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RESULT 2  ·  THE CENTRAL FINDING</a:t>
            </a:r>
          </a:p>
          <a:p>
            <a:r>
              <a:rPr sz="2600" b="1" i="0">
                <a:solidFill>
                  <a:srgbClr val="FFFFFF"/>
                </a:solidFill>
                <a:latin typeface="Calibri"/>
              </a:rPr>
              <a:t>The way you combine decides where the model looks</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grounding.png"/>
          <p:cNvPicPr>
            <a:picLocks noChangeAspect="1"/>
          </p:cNvPicPr>
          <p:nvPr/>
        </p:nvPicPr>
        <p:blipFill>
          <a:blip r:embed="rId2"/>
          <a:stretch>
            <a:fillRect/>
          </a:stretch>
        </p:blipFill>
        <p:spPr>
          <a:xfrm>
            <a:off x="365760" y="1965960"/>
            <a:ext cx="5486400" cy="2921102"/>
          </a:xfrm>
          <a:prstGeom prst="rect">
            <a:avLst/>
          </a:prstGeom>
        </p:spPr>
      </p:pic>
      <p:sp>
        <p:nvSpPr>
          <p:cNvPr id="7" name="TextBox 6"/>
          <p:cNvSpPr txBox="1"/>
          <p:nvPr/>
        </p:nvSpPr>
        <p:spPr>
          <a:xfrm>
            <a:off x="6172200" y="1554480"/>
            <a:ext cx="5669280" cy="5120640"/>
          </a:xfrm>
          <a:prstGeom prst="rect">
            <a:avLst/>
          </a:prstGeom>
          <a:noFill/>
        </p:spPr>
        <p:txBody>
          <a:bodyPr wrap="square">
            <a:spAutoFit/>
          </a:bodyPr>
          <a:lstStyle/>
          <a:p>
            <a:pPr>
              <a:spcAft>
                <a:spcPts val="1000"/>
              </a:spcAft>
            </a:pPr>
            <a:r>
              <a:rPr sz="1450" b="1" i="0">
                <a:solidFill>
                  <a:srgbClr val="C02B2B"/>
                </a:solidFill>
                <a:latin typeface="Calibri"/>
              </a:rPr>
              <a:t>Same information. Opposite results.</a:t>
            </a:r>
          </a:p>
          <a:p>
            <a:pPr>
              <a:spcAft>
                <a:spcPts val="1000"/>
              </a:spcAft>
            </a:pPr>
            <a:r>
              <a:rPr sz="1450" b="0" i="0">
                <a:solidFill>
                  <a:srgbClr val="1B263B"/>
                </a:solidFill>
                <a:latin typeface="Calibri"/>
              </a:rPr>
              <a:t>Concatenation looks </a:t>
            </a:r>
            <a:r>
              <a:rPr sz="1450" b="1" i="0">
                <a:solidFill>
                  <a:srgbClr val="157F3B"/>
                </a:solidFill>
                <a:latin typeface="Calibri"/>
              </a:rPr>
              <a:t>more</a:t>
            </a:r>
            <a:r>
              <a:rPr sz="1450" b="0" i="0">
                <a:solidFill>
                  <a:srgbClr val="1B263B"/>
                </a:solidFill>
                <a:latin typeface="Calibri"/>
              </a:rPr>
              <a:t> at the lesion than image-only (0.51 vs 0.46).</a:t>
            </a:r>
          </a:p>
          <a:p>
            <a:pPr>
              <a:spcAft>
                <a:spcPts val="1000"/>
              </a:spcAft>
            </a:pPr>
            <a:r>
              <a:rPr sz="1450" b="0" i="0">
                <a:solidFill>
                  <a:srgbClr val="1B263B"/>
                </a:solidFill>
                <a:latin typeface="Calibri"/>
              </a:rPr>
              <a:t>MetaBlock </a:t>
            </a:r>
            <a:r>
              <a:rPr sz="1450" b="1" i="0">
                <a:solidFill>
                  <a:srgbClr val="C02B2B"/>
                </a:solidFill>
                <a:latin typeface="Calibri"/>
              </a:rPr>
              <a:t>collapses to near random guessing</a:t>
            </a:r>
            <a:r>
              <a:rPr sz="1450" b="0" i="0">
                <a:solidFill>
                  <a:srgbClr val="1B263B"/>
                </a:solidFill>
                <a:latin typeface="Calibri"/>
              </a:rPr>
              <a:t> (0.30, chance is 0.27) - its attention has almost stopped following the lesion, yet its accuracy still looks fine.</a:t>
            </a:r>
          </a:p>
          <a:p>
            <a:pPr>
              <a:spcAft>
                <a:spcPts val="1000"/>
              </a:spcAft>
            </a:pPr>
            <a:r>
              <a:rPr sz="1450" b="1" i="0">
                <a:solidFill>
                  <a:srgbClr val="2563EB"/>
                </a:solidFill>
                <a:latin typeface="Calibri"/>
              </a:rPr>
              <a:t>•  </a:t>
            </a:r>
            <a:r>
              <a:rPr sz="1450" b="0" i="0">
                <a:solidFill>
                  <a:srgbClr val="1B263B"/>
                </a:solidFill>
                <a:latin typeface="Calibri"/>
              </a:rPr>
              <a:t>FiLM and cross-attention also look less than image-only.</a:t>
            </a:r>
          </a:p>
          <a:p>
            <a:pPr>
              <a:spcAft>
                <a:spcPts val="1000"/>
              </a:spcAft>
            </a:pPr>
            <a:r>
              <a:rPr sz="1450" b="1" i="0">
                <a:solidFill>
                  <a:srgbClr val="1B263B"/>
                </a:solidFill>
                <a:latin typeface="Calibri"/>
              </a:rPr>
              <a:t>All four differences are statistically solid; three separate measures agree.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RESULT 3  ·  WHAT THEY LEAN ON</a:t>
            </a:r>
          </a:p>
          <a:p>
            <a:r>
              <a:rPr sz="2600" b="1" i="0">
                <a:solidFill>
                  <a:srgbClr val="FFFFFF"/>
                </a:solidFill>
                <a:latin typeface="Calibri"/>
              </a:rPr>
              <a:t>Every fusion model leans on details more than image</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reliance.png"/>
          <p:cNvPicPr>
            <a:picLocks noChangeAspect="1"/>
          </p:cNvPicPr>
          <p:nvPr/>
        </p:nvPicPr>
        <p:blipFill>
          <a:blip r:embed="rId2"/>
          <a:stretch>
            <a:fillRect/>
          </a:stretch>
        </p:blipFill>
        <p:spPr>
          <a:xfrm>
            <a:off x="365760" y="1965960"/>
            <a:ext cx="5486400" cy="2918765"/>
          </a:xfrm>
          <a:prstGeom prst="rect">
            <a:avLst/>
          </a:prstGeom>
        </p:spPr>
      </p:pic>
      <p:sp>
        <p:nvSpPr>
          <p:cNvPr id="7" name="TextBox 6"/>
          <p:cNvSpPr txBox="1"/>
          <p:nvPr/>
        </p:nvSpPr>
        <p:spPr>
          <a:xfrm>
            <a:off x="6172200" y="1645920"/>
            <a:ext cx="5669280" cy="5029200"/>
          </a:xfrm>
          <a:prstGeom prst="rect">
            <a:avLst/>
          </a:prstGeom>
          <a:noFill/>
        </p:spPr>
        <p:txBody>
          <a:bodyPr wrap="square">
            <a:spAutoFit/>
          </a:bodyPr>
          <a:lstStyle/>
          <a:p>
            <a:pPr>
              <a:spcAft>
                <a:spcPts val="1200"/>
              </a:spcAft>
            </a:pPr>
            <a:r>
              <a:rPr sz="1500" b="1" i="0">
                <a:solidFill>
                  <a:srgbClr val="2563EB"/>
                </a:solidFill>
                <a:latin typeface="Calibri"/>
              </a:rPr>
              <a:t>•  </a:t>
            </a:r>
            <a:r>
              <a:rPr sz="1500" b="0" i="0">
                <a:solidFill>
                  <a:srgbClr val="1B263B"/>
                </a:solidFill>
                <a:latin typeface="Calibri"/>
              </a:rPr>
              <a:t>On PAD-UFES-20, removing the patient details hurts every fusion model more than removing the image does.</a:t>
            </a:r>
          </a:p>
          <a:p>
            <a:pPr>
              <a:spcAft>
                <a:spcPts val="1200"/>
              </a:spcAft>
            </a:pPr>
            <a:r>
              <a:rPr sz="1500" b="1" i="0">
                <a:solidFill>
                  <a:srgbClr val="2563EB"/>
                </a:solidFill>
                <a:latin typeface="Calibri"/>
              </a:rPr>
              <a:t>Adding metadata roughly halves how much the model depends on the image</a:t>
            </a:r>
            <a:r>
              <a:rPr sz="1500" b="0" i="0">
                <a:solidFill>
                  <a:srgbClr val="1B263B"/>
                </a:solidFill>
                <a:latin typeface="Calibri"/>
              </a:rPr>
              <a:t> (0.48 -&gt; 0.18-0.27).</a:t>
            </a:r>
          </a:p>
          <a:p>
            <a:pPr>
              <a:spcAft>
                <a:spcPts val="1200"/>
              </a:spcAft>
            </a:pPr>
            <a:r>
              <a:rPr sz="1500" b="1" i="0">
                <a:solidFill>
                  <a:srgbClr val="2563EB"/>
                </a:solidFill>
                <a:latin typeface="Calibri"/>
              </a:rPr>
              <a:t>•  </a:t>
            </a:r>
            <a:r>
              <a:rPr sz="1500" b="0" i="0">
                <a:solidFill>
                  <a:srgbClr val="1B263B"/>
                </a:solidFill>
                <a:latin typeface="Calibri"/>
              </a:rPr>
              <a:t>This is offloading, measured directly - not guessed from a heat map.</a:t>
            </a:r>
          </a:p>
          <a:p>
            <a:pPr>
              <a:spcAft>
                <a:spcPts val="1200"/>
              </a:spcAft>
            </a:pPr>
            <a:r>
              <a:rPr sz="1500" b="0" i="0">
                <a:solidFill>
                  <a:srgbClr val="6B7280"/>
                </a:solidFill>
                <a:latin typeface="Calibri"/>
              </a:rPr>
              <a:t>The image-only model loses exactly zero when details are scrambled - the check that proves the measurement is sound.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RESULTS 4 &amp; 5  ·  TWO MORE CHECKS</a:t>
            </a:r>
          </a:p>
          <a:p>
            <a:r>
              <a:rPr sz="2600" b="1" i="0">
                <a:solidFill>
                  <a:srgbClr val="FFFFFF"/>
                </a:solidFill>
                <a:latin typeface="Calibri"/>
              </a:rPr>
              <a:t>Irrelevant details move the evidence; shortcuts fool everyone</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degradation.png"/>
          <p:cNvPicPr>
            <a:picLocks noChangeAspect="1"/>
          </p:cNvPicPr>
          <p:nvPr/>
        </p:nvPicPr>
        <p:blipFill>
          <a:blip r:embed="rId2"/>
          <a:stretch>
            <a:fillRect/>
          </a:stretch>
        </p:blipFill>
        <p:spPr>
          <a:xfrm>
            <a:off x="365760" y="1965960"/>
            <a:ext cx="5486400" cy="2918765"/>
          </a:xfrm>
          <a:prstGeom prst="rect">
            <a:avLst/>
          </a:prstGeom>
        </p:spPr>
      </p:pic>
      <p:sp>
        <p:nvSpPr>
          <p:cNvPr id="7" name="TextBox 6"/>
          <p:cNvSpPr txBox="1"/>
          <p:nvPr/>
        </p:nvSpPr>
        <p:spPr>
          <a:xfrm>
            <a:off x="6172200" y="1554480"/>
            <a:ext cx="5669280" cy="5120640"/>
          </a:xfrm>
          <a:prstGeom prst="rect">
            <a:avLst/>
          </a:prstGeom>
          <a:noFill/>
        </p:spPr>
        <p:txBody>
          <a:bodyPr wrap="square">
            <a:spAutoFit/>
          </a:bodyPr>
          <a:lstStyle/>
          <a:p>
            <a:pPr>
              <a:spcAft>
                <a:spcPts val="1100"/>
              </a:spcAft>
            </a:pPr>
            <a:r>
              <a:rPr sz="1450" b="1" i="0">
                <a:solidFill>
                  <a:srgbClr val="1B263B"/>
                </a:solidFill>
                <a:latin typeface="Calibri"/>
              </a:rPr>
              <a:t>Counterfactual (P4): </a:t>
            </a:r>
            <a:r>
              <a:rPr sz="1450" b="0" i="0">
                <a:solidFill>
                  <a:srgbClr val="1B263B"/>
                </a:solidFill>
                <a:latin typeface="Calibri"/>
              </a:rPr>
              <a:t>changing a detail that cannot affect a lesion - 'household has piped water' - still moves the evidence. Cross-attention moves the most.</a:t>
            </a:r>
          </a:p>
          <a:p>
            <a:pPr>
              <a:spcAft>
                <a:spcPts val="1100"/>
              </a:spcAft>
            </a:pPr>
            <a:r>
              <a:rPr sz="1450" b="1" i="0">
                <a:solidFill>
                  <a:srgbClr val="1B263B"/>
                </a:solidFill>
                <a:latin typeface="Calibri"/>
              </a:rPr>
              <a:t>Image shortcuts (P2): </a:t>
            </a:r>
            <a:r>
              <a:rPr sz="1450" b="0" i="0">
                <a:solidFill>
                  <a:srgbClr val="1B263B"/>
                </a:solidFill>
                <a:latin typeface="Calibri"/>
              </a:rPr>
              <a:t>no model resists them. All fall from ~0.90 to below chance when artifacts point the wrong way (left figure). Metadata neither helps nor hurts here.</a:t>
            </a:r>
          </a:p>
          <a:p>
            <a:pPr>
              <a:spcAft>
                <a:spcPts val="1100"/>
              </a:spcAft>
            </a:pPr>
            <a:r>
              <a:rPr sz="1450" b="1" i="0">
                <a:solidFill>
                  <a:srgbClr val="1B263B"/>
                </a:solidFill>
                <a:latin typeface="Calibri"/>
              </a:rPr>
              <a:t>Offloading under a planted detail (P3): </a:t>
            </a:r>
            <a:r>
              <a:rPr sz="1450" b="0" i="0">
                <a:solidFill>
                  <a:srgbClr val="6B7280"/>
                </a:solidFill>
                <a:latin typeface="Calibri"/>
              </a:rPr>
              <a:t>inconclusive - too few data points, and the honest answer is to say so.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RIGOUR</a:t>
            </a:r>
          </a:p>
          <a:p>
            <a:r>
              <a:rPr sz="2600" b="1" i="0">
                <a:solidFill>
                  <a:srgbClr val="FFFFFF"/>
                </a:solidFill>
                <a:latin typeface="Calibri"/>
              </a:rPr>
              <a:t>19 tests planned in advance, corrected together</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10972800" cy="5166360"/>
          </a:xfrm>
          <a:prstGeom prst="rect">
            <a:avLst/>
          </a:prstGeom>
          <a:noFill/>
        </p:spPr>
        <p:txBody>
          <a:bodyPr wrap="square">
            <a:spAutoFit/>
          </a:bodyPr>
          <a:lstStyle/>
          <a:p>
            <a:pPr>
              <a:spcAft>
                <a:spcPts val="1100"/>
              </a:spcAft>
            </a:pPr>
            <a:r>
              <a:rPr sz="1700" b="1" i="0">
                <a:solidFill>
                  <a:srgbClr val="1B263B"/>
                </a:solidFill>
                <a:latin typeface="Calibri"/>
              </a:rPr>
              <a:t>P1 Grounding:  </a:t>
            </a:r>
            <a:r>
              <a:rPr sz="1700" b="1" i="0">
                <a:solidFill>
                  <a:srgbClr val="157F3B"/>
                </a:solidFill>
                <a:latin typeface="Calibri"/>
              </a:rPr>
              <a:t>all significant</a:t>
            </a:r>
          </a:p>
          <a:p>
            <a:pPr>
              <a:spcAft>
                <a:spcPts val="1100"/>
              </a:spcAft>
            </a:pPr>
            <a:r>
              <a:rPr sz="1700" b="1" i="0">
                <a:solidFill>
                  <a:srgbClr val="1B263B"/>
                </a:solidFill>
                <a:latin typeface="Calibri"/>
              </a:rPr>
              <a:t>P2 Image shortcut:  </a:t>
            </a:r>
            <a:r>
              <a:rPr sz="1700" b="1" i="0">
                <a:solidFill>
                  <a:srgbClr val="C02B2B"/>
                </a:solidFill>
                <a:latin typeface="Calibri"/>
              </a:rPr>
              <a:t>none significant</a:t>
            </a:r>
          </a:p>
          <a:p>
            <a:pPr>
              <a:spcAft>
                <a:spcPts val="1100"/>
              </a:spcAft>
            </a:pPr>
            <a:r>
              <a:rPr sz="1700" b="1" i="0">
                <a:solidFill>
                  <a:srgbClr val="1B263B"/>
                </a:solidFill>
                <a:latin typeface="Calibri"/>
              </a:rPr>
              <a:t>P3 Offloading:  </a:t>
            </a:r>
            <a:r>
              <a:rPr sz="1700" b="1" i="0">
                <a:solidFill>
                  <a:srgbClr val="C02B2B"/>
                </a:solidFill>
                <a:latin typeface="Calibri"/>
              </a:rPr>
              <a:t>none significant</a:t>
            </a:r>
          </a:p>
          <a:p>
            <a:pPr>
              <a:spcAft>
                <a:spcPts val="1100"/>
              </a:spcAft>
            </a:pPr>
            <a:r>
              <a:rPr sz="1700" b="1" i="0">
                <a:solidFill>
                  <a:srgbClr val="1B263B"/>
                </a:solidFill>
                <a:latin typeface="Calibri"/>
              </a:rPr>
              <a:t>P4 Counterfactual:  </a:t>
            </a:r>
            <a:r>
              <a:rPr sz="1700" b="1" i="0">
                <a:solidFill>
                  <a:srgbClr val="157F3B"/>
                </a:solidFill>
                <a:latin typeface="Calibri"/>
              </a:rPr>
              <a:t>all significant</a:t>
            </a:r>
          </a:p>
          <a:p>
            <a:pPr>
              <a:spcAft>
                <a:spcPts val="1100"/>
              </a:spcAft>
            </a:pPr>
            <a:r>
              <a:rPr sz="1700" b="1" i="0">
                <a:solidFill>
                  <a:srgbClr val="1B263B"/>
                </a:solidFill>
                <a:latin typeface="Calibri"/>
              </a:rPr>
              <a:t>P5 Reliance:  </a:t>
            </a:r>
            <a:r>
              <a:rPr sz="1700" b="1" i="0">
                <a:solidFill>
                  <a:srgbClr val="157F3B"/>
                </a:solidFill>
                <a:latin typeface="Calibri"/>
              </a:rPr>
              <a:t>all significant</a:t>
            </a:r>
          </a:p>
          <a:p>
            <a:pPr>
              <a:spcAft>
                <a:spcPts val="1100"/>
              </a:spcAft>
            </a:pPr>
            <a:r>
              <a:rPr sz="1700" b="1" i="0">
                <a:solidFill>
                  <a:srgbClr val="1B263B"/>
                </a:solidFill>
                <a:latin typeface="Calibri"/>
              </a:rPr>
              <a:t>11 of 19 tests significant after correction.</a:t>
            </a:r>
          </a:p>
          <a:p>
            <a:pPr>
              <a:spcAft>
                <a:spcPts val="1100"/>
              </a:spcAft>
            </a:pPr>
            <a:r>
              <a:rPr sz="1700" b="0" i="0">
                <a:solidFill>
                  <a:srgbClr val="6B7280"/>
                </a:solidFill>
                <a:latin typeface="Calibri"/>
              </a:rPr>
              <a:t>P2 and P3 came back empty - but they were planned, so 'no effect' is a result, not a gap. This is what pre-registration buys.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10698480" cy="1097280"/>
          </a:xfrm>
          <a:prstGeom prst="rect">
            <a:avLst/>
          </a:prstGeom>
          <a:noFill/>
        </p:spPr>
        <p:txBody>
          <a:bodyPr wrap="square">
            <a:spAutoFit/>
          </a:bodyPr>
          <a:lstStyle/>
          <a:p>
            <a:r>
              <a:rPr sz="3000" b="1" i="0">
                <a:solidFill>
                  <a:srgbClr val="FFFFFF"/>
                </a:solidFill>
                <a:latin typeface="Calibri"/>
              </a:rPr>
              <a:t>What it all means</a:t>
            </a:r>
          </a:p>
        </p:txBody>
      </p:sp>
      <p:sp>
        <p:nvSpPr>
          <p:cNvPr id="4" name="Rectangle 3"/>
          <p:cNvSpPr/>
          <p:nvPr/>
        </p:nvSpPr>
        <p:spPr>
          <a:xfrm>
            <a:off x="777240" y="141732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10607040" cy="4572000"/>
          </a:xfrm>
          <a:prstGeom prst="rect">
            <a:avLst/>
          </a:prstGeom>
          <a:noFill/>
        </p:spPr>
        <p:txBody>
          <a:bodyPr wrap="square">
            <a:spAutoFit/>
          </a:bodyPr>
          <a:lstStyle/>
          <a:p>
            <a:pPr>
              <a:spcAft>
                <a:spcPts val="1200"/>
              </a:spcAft>
            </a:pPr>
            <a:r>
              <a:rPr sz="1800" b="1" i="0">
                <a:solidFill>
                  <a:srgbClr val="2563EB"/>
                </a:solidFill>
                <a:latin typeface="Calibri"/>
              </a:rPr>
              <a:t>1.  </a:t>
            </a:r>
            <a:r>
              <a:rPr sz="1800" b="1" i="0">
                <a:solidFill>
                  <a:srgbClr val="FFFFFF"/>
                </a:solidFill>
                <a:latin typeface="Calibri"/>
              </a:rPr>
              <a:t>The mechanism matters more than the metadata.  </a:t>
            </a:r>
            <a:r>
              <a:rPr sz="1500" b="0" i="0">
                <a:solidFill>
                  <a:srgbClr val="C7D7EC"/>
                </a:solidFill>
                <a:latin typeface="Calibri"/>
              </a:rPr>
              <a:t>Identical information, combined differently, improves or destroys the model's visual evidence.</a:t>
            </a:r>
          </a:p>
          <a:p>
            <a:pPr>
              <a:spcAft>
                <a:spcPts val="1200"/>
              </a:spcAft>
            </a:pPr>
            <a:r>
              <a:rPr sz="1800" b="1" i="0">
                <a:solidFill>
                  <a:srgbClr val="2563EB"/>
                </a:solidFill>
                <a:latin typeface="Calibri"/>
              </a:rPr>
              <a:t>2.  </a:t>
            </a:r>
            <a:r>
              <a:rPr sz="1800" b="1" i="0">
                <a:solidFill>
                  <a:srgbClr val="FFFFFF"/>
                </a:solidFill>
                <a:latin typeface="Calibri"/>
              </a:rPr>
              <a:t>The simplest method wins twice.  </a:t>
            </a:r>
            <a:r>
              <a:rPr sz="1500" b="0" i="0">
                <a:solidFill>
                  <a:srgbClr val="C7D7EC"/>
                </a:solidFill>
                <a:latin typeface="Calibri"/>
              </a:rPr>
              <a:t>Plain concatenation was the most accurate on one dataset and the only one to improve grounding on the other - yet the field treats it as a throwaway baseline.</a:t>
            </a:r>
          </a:p>
          <a:p>
            <a:pPr>
              <a:spcAft>
                <a:spcPts val="1200"/>
              </a:spcAft>
            </a:pPr>
            <a:r>
              <a:rPr sz="1800" b="1" i="0">
                <a:solidFill>
                  <a:srgbClr val="2563EB"/>
                </a:solidFill>
                <a:latin typeface="Calibri"/>
              </a:rPr>
              <a:t>3.  </a:t>
            </a:r>
            <a:r>
              <a:rPr sz="1800" b="1" i="0">
                <a:solidFill>
                  <a:srgbClr val="FFFFFF"/>
                </a:solidFill>
                <a:latin typeface="Calibri"/>
              </a:rPr>
              <a:t>A model can be more accurate and less trustworthy at once.  </a:t>
            </a:r>
            <a:r>
              <a:rPr sz="1500" b="0" i="0">
                <a:solidFill>
                  <a:srgbClr val="C7D7EC"/>
                </a:solidFill>
                <a:latin typeface="Calibri"/>
              </a:rPr>
              <a:t>MetaBlock is competitive on accuracy while barely looking at the lesion. Accuracy hides this; our measures expose it.</a:t>
            </a:r>
          </a:p>
          <a:p>
            <a:pPr>
              <a:spcAft>
                <a:spcPts val="1200"/>
              </a:spcAft>
            </a:pPr>
            <a:r>
              <a:rPr sz="1800" b="1" i="0">
                <a:solidFill>
                  <a:srgbClr val="2563EB"/>
                </a:solidFill>
                <a:latin typeface="Calibri"/>
              </a:rPr>
              <a:t>4.  </a:t>
            </a:r>
            <a:r>
              <a:rPr sz="1800" b="1" i="0">
                <a:solidFill>
                  <a:srgbClr val="FFFFFF"/>
                </a:solidFill>
                <a:latin typeface="Calibri"/>
              </a:rPr>
              <a:t>Honesty about our own proposal.  </a:t>
            </a:r>
            <a:r>
              <a:rPr sz="1500" b="0" i="0">
                <a:solidFill>
                  <a:srgbClr val="C7D7EC"/>
                </a:solidFill>
                <a:latin typeface="Calibri"/>
              </a:rPr>
              <a:t>Cross-attention - what we first set out to promote - is middling on accuracy and worst at being swayed by irrelevant details. Reporting that is the contribution.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11155680" cy="960120"/>
          </a:xfrm>
          <a:prstGeom prst="rect">
            <a:avLst/>
          </a:prstGeom>
          <a:noFill/>
        </p:spPr>
        <p:txBody>
          <a:bodyPr wrap="square">
            <a:spAutoFit/>
          </a:bodyPr>
          <a:lstStyle/>
          <a:p>
            <a:r>
              <a:rPr sz="1200" b="1" i="0">
                <a:solidFill>
                  <a:srgbClr val="9DB8D8"/>
                </a:solidFill>
                <a:latin typeface="Calibri"/>
              </a:rPr>
              <a:t>CONTRIBUTIONS, STATUS &amp; WHAT'S NEXT</a:t>
            </a:r>
          </a:p>
          <a:p>
            <a:r>
              <a:rPr sz="2600" b="1" i="0">
                <a:solidFill>
                  <a:srgbClr val="FFFFFF"/>
                </a:solidFill>
                <a:latin typeface="Calibri"/>
              </a:rPr>
              <a:t>Where the project stands</a:t>
            </a:r>
          </a:p>
        </p:txBody>
      </p:sp>
      <p:sp>
        <p:nvSpPr>
          <p:cNvPr id="5" name="Rectangle 4"/>
          <p:cNvSpPr/>
          <p:nvPr/>
        </p:nvSpPr>
        <p:spPr>
          <a:xfrm>
            <a:off x="502920" y="1143000"/>
            <a:ext cx="201168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63040"/>
            <a:ext cx="10972800" cy="4023360"/>
          </a:xfrm>
          <a:prstGeom prst="rect">
            <a:avLst/>
          </a:prstGeom>
          <a:noFill/>
        </p:spPr>
        <p:txBody>
          <a:bodyPr wrap="square">
            <a:spAutoFit/>
          </a:bodyPr>
          <a:lstStyle/>
          <a:p>
            <a:pPr>
              <a:spcAft>
                <a:spcPts val="1300"/>
              </a:spcAft>
            </a:pPr>
            <a:r>
              <a:rPr sz="1550" b="1" i="0">
                <a:solidFill>
                  <a:srgbClr val="157F3B"/>
                </a:solidFill>
                <a:latin typeface="Calibri"/>
              </a:rPr>
              <a:t>Delivered: </a:t>
            </a:r>
            <a:r>
              <a:rPr sz="1550" b="0" i="0">
                <a:solidFill>
                  <a:srgbClr val="1B263B"/>
                </a:solidFill>
                <a:latin typeface="Calibri"/>
              </a:rPr>
              <a:t>all experiments complete - 449 model trainings, ~21 GPU-hours; a new benchmark (N1), a new annotation-free test (N2), and the first grounding audit across fusion families (N3).</a:t>
            </a:r>
          </a:p>
          <a:p>
            <a:pPr>
              <a:spcAft>
                <a:spcPts val="1300"/>
              </a:spcAft>
            </a:pPr>
            <a:r>
              <a:rPr sz="1550" b="1" i="0">
                <a:solidFill>
                  <a:srgbClr val="157F3B"/>
                </a:solidFill>
                <a:latin typeface="Calibri"/>
              </a:rPr>
              <a:t>Finding (N4): </a:t>
            </a:r>
            <a:r>
              <a:rPr sz="1550" b="0" i="0">
                <a:solidFill>
                  <a:srgbClr val="1B263B"/>
                </a:solidFill>
                <a:latin typeface="Calibri"/>
              </a:rPr>
              <a:t>fusion mechanism, not metadata, controls grounding; accuracy and trustworthiness are decoupled.</a:t>
            </a:r>
          </a:p>
          <a:p>
            <a:pPr>
              <a:spcAft>
                <a:spcPts val="1300"/>
              </a:spcAft>
            </a:pPr>
            <a:r>
              <a:rPr sz="1550" b="1" i="0">
                <a:solidFill>
                  <a:srgbClr val="C02B2B"/>
                </a:solidFill>
                <a:latin typeface="Calibri"/>
              </a:rPr>
              <a:t>Limitations we state plainly: </a:t>
            </a:r>
            <a:r>
              <a:rPr sz="1550" b="0" i="0">
                <a:solidFill>
                  <a:srgbClr val="1B263B"/>
                </a:solidFill>
                <a:latin typeface="Calibri"/>
              </a:rPr>
              <a:t>one offloading test was underpowered; one backbone tested; skin-tone fairness needs DDI, whose access is pending.</a:t>
            </a:r>
          </a:p>
          <a:p>
            <a:pPr>
              <a:spcAft>
                <a:spcPts val="1300"/>
              </a:spcAft>
            </a:pPr>
            <a:r>
              <a:rPr sz="1550" b="1" i="0">
                <a:solidFill>
                  <a:srgbClr val="2563EB"/>
                </a:solidFill>
                <a:latin typeface="Calibri"/>
              </a:rPr>
              <a:t>Next: </a:t>
            </a:r>
            <a:r>
              <a:rPr sz="1550" b="0" i="0">
                <a:solidFill>
                  <a:srgbClr val="1B263B"/>
                </a:solidFill>
                <a:latin typeface="Calibri"/>
              </a:rPr>
              <a:t>finalise figures, secondary checks, and write up for MIDL 2027 (deadline ~Dec 2026). Framing shifts from 'same accuracy' to 'accuracy and evidence are separate things', which the data supports.</a:t>
            </a:r>
          </a:p>
        </p:txBody>
      </p:sp>
      <p:sp>
        <p:nvSpPr>
          <p:cNvPr id="7" name="Rounded Rectangle 6"/>
          <p:cNvSpPr/>
          <p:nvPr/>
        </p:nvSpPr>
        <p:spPr>
          <a:xfrm>
            <a:off x="640080" y="5669280"/>
            <a:ext cx="10972800" cy="868680"/>
          </a:xfrm>
          <a:prstGeom prst="round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Calibri"/>
              </a:rPr>
              <a:t>Thank you  ·  Aniket Meena, Ritu Raj Swami, Nishant Kumar   |   Supervisor: Dr. Bharti Nagpal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